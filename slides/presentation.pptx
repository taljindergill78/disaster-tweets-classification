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8"/>
  </p:normalViewPr>
  <p:slideViewPr>
    <p:cSldViewPr snapToGrid="0">
      <p:cViewPr varScale="1">
        <p:scale>
          <a:sx n="163" d="100"/>
          <a:sy n="163" d="100"/>
        </p:scale>
        <p:origin x="184" y="1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8fdeaef1d_0_0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88fdeaef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8fb7122d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8fb7122d5_0_2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8fb7122d5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8fb7122d5_0_95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8fb7122d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8fb7122d5_0_12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8fb7122d5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8fb7122d5_0_109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f60816bc3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f60816bc3_1_8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8fb7122d5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8fb7122d5_0_155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8fb7122d5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8fb7122d5_0_161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385750"/>
            <a:ext cx="6096300" cy="1928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258316" y="306451"/>
            <a:ext cx="6627367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0D0F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body" idx="1"/>
          </p:nvPr>
        </p:nvSpPr>
        <p:spPr>
          <a:xfrm>
            <a:off x="414629" y="1019683"/>
            <a:ext cx="8295640" cy="357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68411" y="4335779"/>
            <a:ext cx="989076" cy="6507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0"/>
            <a:ext cx="9144000" cy="315595"/>
          </a:xfrm>
          <a:custGeom>
            <a:avLst/>
            <a:gdLst/>
            <a:ahLst/>
            <a:cxnLst/>
            <a:rect l="l" t="t" r="r" b="b"/>
            <a:pathLst>
              <a:path w="9144000" h="315595" extrusionOk="0">
                <a:moveTo>
                  <a:pt x="9144000" y="0"/>
                </a:moveTo>
                <a:lnTo>
                  <a:pt x="0" y="0"/>
                </a:lnTo>
                <a:lnTo>
                  <a:pt x="0" y="315467"/>
                </a:lnTo>
                <a:lnTo>
                  <a:pt x="9144000" y="315467"/>
                </a:lnTo>
                <a:lnTo>
                  <a:pt x="9144000" y="0"/>
                </a:lnTo>
                <a:close/>
              </a:path>
            </a:pathLst>
          </a:cu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0"/>
            <a:ext cx="9144000" cy="315595"/>
          </a:xfrm>
          <a:custGeom>
            <a:avLst/>
            <a:gdLst/>
            <a:ahLst/>
            <a:cxnLst/>
            <a:rect l="l" t="t" r="r" b="b"/>
            <a:pathLst>
              <a:path w="9144000" h="315595" extrusionOk="0">
                <a:moveTo>
                  <a:pt x="0" y="315467"/>
                </a:moveTo>
                <a:lnTo>
                  <a:pt x="9144000" y="315467"/>
                </a:lnTo>
                <a:lnTo>
                  <a:pt x="9144000" y="0"/>
                </a:lnTo>
                <a:lnTo>
                  <a:pt x="0" y="0"/>
                </a:lnTo>
                <a:lnTo>
                  <a:pt x="0" y="315467"/>
                </a:lnTo>
                <a:close/>
              </a:path>
            </a:pathLst>
          </a:custGeom>
          <a:noFill/>
          <a:ln w="9525" cap="flat" cmpd="sng">
            <a:solidFill>
              <a:srgbClr val="FFC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258316" y="306451"/>
            <a:ext cx="6627367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0D0F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2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0D0F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1258316" y="306451"/>
            <a:ext cx="6627367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>
                <a:solidFill>
                  <a:srgbClr val="0D0F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723894" y="1876805"/>
            <a:ext cx="0" cy="1380490"/>
          </a:xfrm>
          <a:custGeom>
            <a:avLst/>
            <a:gdLst/>
            <a:ahLst/>
            <a:cxnLst/>
            <a:rect l="l" t="t" r="r" b="b"/>
            <a:pathLst>
              <a:path w="120000" h="1380489" extrusionOk="0">
                <a:moveTo>
                  <a:pt x="0" y="0"/>
                </a:moveTo>
                <a:lnTo>
                  <a:pt x="0" y="1380363"/>
                </a:lnTo>
              </a:path>
            </a:pathLst>
          </a:custGeom>
          <a:noFill/>
          <a:ln w="28950" cap="flat" cmpd="sng">
            <a:solidFill>
              <a:srgbClr val="FFC5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258316" y="306451"/>
            <a:ext cx="6627367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300" b="1" i="0" u="none" strike="noStrike" cap="none">
                <a:solidFill>
                  <a:srgbClr val="0D0F1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14629" y="1019683"/>
            <a:ext cx="8295640" cy="357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1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400" b="0" i="0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200" y="4517000"/>
            <a:ext cx="2459750" cy="42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961291" y="444725"/>
            <a:ext cx="7276123" cy="3791214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</a:rPr>
              <a:t>Natural Language Processing with Disaster Tweets</a:t>
            </a:r>
            <a:endParaRPr sz="3200" dirty="0"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2022 Arizona Board of Regents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/>
        </p:nvSpPr>
        <p:spPr>
          <a:xfrm>
            <a:off x="4157625" y="728850"/>
            <a:ext cx="3639600" cy="3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29565" lvl="0" indent="-3168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b="1" i="1"/>
              <a:t>Project Summary</a:t>
            </a:r>
            <a:endParaRPr b="1" i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i="1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i="1">
                <a:solidFill>
                  <a:schemeClr val="dk1"/>
                </a:solidFill>
              </a:rPr>
              <a:t>Data Preprocessing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7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i="1">
                <a:solidFill>
                  <a:schemeClr val="dk1"/>
                </a:solidFill>
              </a:rPr>
              <a:t>Implemented </a:t>
            </a:r>
            <a:r>
              <a:rPr lang="en-US" b="1" i="1">
                <a:solidFill>
                  <a:srgbClr val="0D0F1A"/>
                </a:solidFill>
              </a:rPr>
              <a:t>Data Mining Pipeline/System</a:t>
            </a:r>
            <a:br>
              <a:rPr lang="en-US" b="1" i="1">
                <a:solidFill>
                  <a:schemeClr val="dk1"/>
                </a:solidFill>
              </a:rPr>
            </a:br>
            <a:endParaRPr b="1" i="1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i="1">
                <a:solidFill>
                  <a:schemeClr val="dk1"/>
                </a:solidFill>
              </a:rPr>
              <a:t>Implemented Results</a:t>
            </a:r>
            <a:endParaRPr b="1" i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i="1">
                <a:solidFill>
                  <a:schemeClr val="dk1"/>
                </a:solidFill>
              </a:rPr>
              <a:t>5-fold CV, OOF probability &amp; threshold planning  </a:t>
            </a:r>
            <a:endParaRPr b="1" i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i="1">
                <a:solidFill>
                  <a:schemeClr val="dk1"/>
                </a:solidFill>
              </a:rPr>
              <a:t>Ensemble and hold-out evaluation</a:t>
            </a:r>
            <a:endParaRPr b="1" i="1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 b="1" i="1">
                <a:solidFill>
                  <a:schemeClr val="dk1"/>
                </a:solidFill>
              </a:rPr>
              <a:t>Confusion matrix</a:t>
            </a:r>
            <a:br>
              <a:rPr lang="en-US" b="1" i="1">
                <a:solidFill>
                  <a:schemeClr val="dk1"/>
                </a:solidFill>
              </a:rPr>
            </a:br>
            <a:endParaRPr b="1" i="1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i="1">
                <a:solidFill>
                  <a:schemeClr val="dk1"/>
                </a:solidFill>
              </a:rPr>
              <a:t>Potential Issues</a:t>
            </a:r>
            <a:br>
              <a:rPr lang="en-US" b="1" i="1">
                <a:solidFill>
                  <a:schemeClr val="dk1"/>
                </a:solidFill>
              </a:rPr>
            </a:br>
            <a:endParaRPr b="1" i="1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 i="1">
                <a:solidFill>
                  <a:schemeClr val="dk1"/>
                </a:solidFill>
              </a:rPr>
              <a:t>Future Plans</a:t>
            </a:r>
            <a:endParaRPr b="1" i="1">
              <a:solidFill>
                <a:schemeClr val="dk1"/>
              </a:solidFill>
            </a:endParaRPr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2022 Arizona Board of Regents</a:t>
            </a:r>
            <a:endParaRPr/>
          </a:p>
        </p:txBody>
      </p:sp>
      <p:sp>
        <p:nvSpPr>
          <p:cNvPr id="58" name="Google Shape;58;p8"/>
          <p:cNvSpPr txBox="1"/>
          <p:nvPr/>
        </p:nvSpPr>
        <p:spPr>
          <a:xfrm>
            <a:off x="545795" y="2359914"/>
            <a:ext cx="2484900" cy="3849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181818"/>
                </a:solidFill>
              </a:rPr>
              <a:t>Contents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/>
        </p:nvSpPr>
        <p:spPr>
          <a:xfrm>
            <a:off x="4157625" y="333150"/>
            <a:ext cx="4031700" cy="4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 b="1">
                <a:solidFill>
                  <a:schemeClr val="dk1"/>
                </a:solidFill>
              </a:rPr>
              <a:t>Goal</a:t>
            </a:r>
            <a:r>
              <a:rPr lang="en-US" sz="1100">
                <a:solidFill>
                  <a:schemeClr val="dk1"/>
                </a:solidFill>
              </a:rPr>
              <a:t>: Classify tweets as </a:t>
            </a:r>
            <a:r>
              <a:rPr lang="en-US" sz="1100" b="1">
                <a:solidFill>
                  <a:schemeClr val="dk1"/>
                </a:solidFill>
              </a:rPr>
              <a:t>disaster vs. non-disaster</a:t>
            </a:r>
            <a:r>
              <a:rPr lang="en-US" sz="1100">
                <a:solidFill>
                  <a:schemeClr val="dk1"/>
                </a:solidFill>
              </a:rPr>
              <a:t> for real-time emergency detection.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 b="1">
                <a:solidFill>
                  <a:schemeClr val="dk1"/>
                </a:solidFill>
              </a:rPr>
              <a:t>Data Insights: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Metadata useful but incomplete (missing keywords/locations).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Imbalance: ~57% non-disaster vs. 43% disaster tweets.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Disaster tweets often contain URLs &amp; specific terms (e.g., </a:t>
            </a:r>
            <a:r>
              <a:rPr lang="en-US" sz="1100" i="1">
                <a:solidFill>
                  <a:schemeClr val="dk1"/>
                </a:solidFill>
              </a:rPr>
              <a:t>fire, evacuate</a:t>
            </a:r>
            <a:r>
              <a:rPr lang="en-US" sz="1100">
                <a:solidFill>
                  <a:schemeClr val="dk1"/>
                </a:solidFill>
              </a:rPr>
              <a:t>).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 b="1">
                <a:solidFill>
                  <a:schemeClr val="dk1"/>
                </a:solidFill>
              </a:rPr>
              <a:t>Advanced Pipeline: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Combined word+character TF-IDF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Meta-data features.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One-hot keywords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Explored Models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 b="1">
                <a:solidFill>
                  <a:schemeClr val="dk1"/>
                </a:solidFill>
              </a:rPr>
              <a:t>Results and Challenges: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lang="en-US" sz="1100" b="1">
                <a:solidFill>
                  <a:schemeClr val="dk1"/>
                </a:solidFill>
              </a:rPr>
              <a:t>enhanced performance (F1 = 0.7763)</a:t>
            </a:r>
            <a:r>
              <a:rPr lang="en-US" sz="1100">
                <a:solidFill>
                  <a:schemeClr val="dk1"/>
                </a:solidFill>
              </a:rPr>
              <a:t> on a 15% holdout set using a </a:t>
            </a:r>
            <a:r>
              <a:rPr lang="en-US" sz="1100" b="1">
                <a:solidFill>
                  <a:schemeClr val="dk1"/>
                </a:solidFill>
              </a:rPr>
              <a:t>blended ensemble</a:t>
            </a:r>
            <a:r>
              <a:rPr lang="en-US" sz="1100">
                <a:solidFill>
                  <a:schemeClr val="dk1"/>
                </a:solidFill>
              </a:rPr>
              <a:t> of the LR and SVC models.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329565" lvl="0" indent="-31686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100" b="1">
                <a:solidFill>
                  <a:schemeClr val="dk1"/>
                </a:solidFill>
              </a:rPr>
              <a:t>Future Plans: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Integrate Transformer Models</a:t>
            </a:r>
            <a:endParaRPr sz="1100">
              <a:solidFill>
                <a:schemeClr val="dk1"/>
              </a:solidFill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 sz="1100">
                <a:solidFill>
                  <a:schemeClr val="dk1"/>
                </a:solidFill>
              </a:rPr>
              <a:t>Advanced Ensembling (Stacking).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0" cy="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2022 Arizona Board of Regents</a:t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545800" y="2155048"/>
            <a:ext cx="2484900" cy="8334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181818"/>
                </a:solidFill>
              </a:rPr>
              <a:t>Project Summary</a:t>
            </a:r>
            <a:endParaRPr sz="25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/>
          <p:nvPr/>
        </p:nvSpPr>
        <p:spPr>
          <a:xfrm>
            <a:off x="4224450" y="1597650"/>
            <a:ext cx="4395300" cy="27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Text normalization: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Lowercasing, removing/replacing URLs, mentions, hashtags.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>
                <a:solidFill>
                  <a:schemeClr val="dk1"/>
                </a:solidFill>
              </a:rPr>
              <a:t>Collapsing elongated characters (e.g., “soooo” → “soo”).</a:t>
            </a:r>
            <a:br>
              <a:rPr lang="en-US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b="1">
                <a:solidFill>
                  <a:schemeClr val="dk1"/>
                </a:solidFill>
              </a:rPr>
              <a:t>Added binary signals: </a:t>
            </a:r>
            <a:endParaRPr b="1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US"/>
              <a:t>n_words (Tweet word count)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n_chars (Tweet character length)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Keyword_norm (Normalized keyword for OHE)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31794" y="2337550"/>
            <a:ext cx="2328900" cy="708000"/>
          </a:xfrm>
          <a:prstGeom prst="rect">
            <a:avLst/>
          </a:prstGeom>
          <a:solidFill>
            <a:srgbClr val="F0C231"/>
          </a:solidFill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Preprocessing</a:t>
            </a:r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1801800" y="306450"/>
            <a:ext cx="55404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Implemented Data Mining Pipeline/System</a:t>
            </a:r>
            <a:endParaRPr b="0"/>
          </a:p>
        </p:txBody>
      </p:sp>
      <p:sp>
        <p:nvSpPr>
          <p:cNvPr id="80" name="Google Shape;80;p11"/>
          <p:cNvSpPr txBox="1"/>
          <p:nvPr/>
        </p:nvSpPr>
        <p:spPr>
          <a:xfrm>
            <a:off x="513425" y="2039075"/>
            <a:ext cx="1996500" cy="28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 b="1">
                <a:solidFill>
                  <a:schemeClr val="dk1"/>
                </a:solidFill>
              </a:rPr>
              <a:t>Deduplicate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lang="en-US" sz="1000" b="1">
                <a:solidFill>
                  <a:schemeClr val="dk1"/>
                </a:solidFill>
              </a:rPr>
              <a:t>train</a:t>
            </a:r>
            <a:r>
              <a:rPr lang="en-US" sz="1000">
                <a:solidFill>
                  <a:schemeClr val="dk1"/>
                </a:solidFill>
              </a:rPr>
              <a:t> (110); stratified 5-fold CV, fixed seed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>
                <a:solidFill>
                  <a:schemeClr val="dk1"/>
                </a:solidFill>
              </a:rPr>
              <a:t>Normalize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lang="en-US" sz="1000" b="1">
                <a:solidFill>
                  <a:schemeClr val="dk1"/>
                </a:solidFill>
              </a:rPr>
              <a:t>text</a:t>
            </a:r>
            <a:r>
              <a:rPr lang="en-US" sz="1000">
                <a:solidFill>
                  <a:schemeClr val="dk1"/>
                </a:solidFill>
              </a:rPr>
              <a:t>: lowercase, URL/@/# → tokens, trim punctuation/whitespace (preserve negations)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 b="1">
                <a:solidFill>
                  <a:schemeClr val="dk1"/>
                </a:solidFill>
              </a:rPr>
              <a:t>Metadata</a:t>
            </a:r>
            <a:r>
              <a:rPr lang="en-US" sz="1000">
                <a:solidFill>
                  <a:schemeClr val="dk1"/>
                </a:solidFill>
              </a:rPr>
              <a:t>: lowercase keyword + simple mapping; add URL/@/# flags; drop location for MVP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1206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12065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2831475" y="2039075"/>
            <a:ext cx="18219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lang="en-US" sz="1000" b="1">
                <a:solidFill>
                  <a:schemeClr val="dk1"/>
                </a:solidFill>
              </a:rPr>
              <a:t>TF-IDF</a:t>
            </a:r>
            <a:r>
              <a:rPr lang="en-US" sz="1000">
                <a:solidFill>
                  <a:schemeClr val="dk1"/>
                </a:solidFill>
              </a:rPr>
              <a:t> (word + char n-grams)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-US" sz="1000" b="1">
                <a:solidFill>
                  <a:schemeClr val="dk1"/>
                </a:solidFill>
              </a:rPr>
              <a:t>Simple features</a:t>
            </a:r>
            <a:r>
              <a:rPr lang="en-US" sz="1000">
                <a:solidFill>
                  <a:schemeClr val="dk1"/>
                </a:solidFill>
              </a:rPr>
              <a:t>: length stats, keyword one-hot, URL/@/# flags</a:t>
            </a:r>
            <a:endParaRPr sz="10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  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4974925" y="2039075"/>
            <a:ext cx="1821900" cy="17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57200" marR="5080" lvl="0" indent="-2921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/>
              <a:t>Models Compared</a:t>
            </a:r>
            <a:r>
              <a:rPr lang="en-US" sz="1000"/>
              <a:t>: Logistic Regression, Calibrated Linear SVM, Complement Naïve Bayes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/>
              <a:t>Ensemble</a:t>
            </a:r>
            <a:r>
              <a:rPr lang="en-US" sz="1000"/>
              <a:t>: DistilBERT fine-tune; optional ensemble (LR/SVM + transformer)</a:t>
            </a:r>
            <a:endParaRPr sz="1000"/>
          </a:p>
          <a:p>
            <a:pPr marL="304800" marR="5080" lvl="0" indent="-292735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83" name="Google Shape;83;p11"/>
          <p:cNvSpPr txBox="1"/>
          <p:nvPr/>
        </p:nvSpPr>
        <p:spPr>
          <a:xfrm>
            <a:off x="7035425" y="2039075"/>
            <a:ext cx="1653900" cy="21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/>
              <a:t>Metric</a:t>
            </a:r>
            <a:r>
              <a:rPr lang="en-US" sz="1000"/>
              <a:t>: F1 score (Tune decision threshold on CV to maximize F1)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/>
              <a:t>Confusion matrix</a:t>
            </a:r>
            <a:r>
              <a:rPr lang="en-US" sz="1000"/>
              <a:t> + error buckets (sarcasm/figurative “exploded”)</a:t>
            </a:r>
            <a:endParaRPr sz="1000"/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 b="1"/>
              <a:t>Reproducible runs </a:t>
            </a:r>
            <a:r>
              <a:rPr lang="en-US" sz="1000"/>
              <a:t>(seed, exact versions) + CV ↔ Kaggle LB check</a:t>
            </a:r>
            <a:endParaRPr sz="1000"/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  <p:grpSp>
        <p:nvGrpSpPr>
          <p:cNvPr id="84" name="Google Shape;84;p11"/>
          <p:cNvGrpSpPr/>
          <p:nvPr/>
        </p:nvGrpSpPr>
        <p:grpSpPr>
          <a:xfrm>
            <a:off x="795908" y="954849"/>
            <a:ext cx="1511935" cy="867410"/>
            <a:chOff x="826008" y="1411224"/>
            <a:chExt cx="1511935" cy="867410"/>
          </a:xfrm>
        </p:grpSpPr>
        <p:sp>
          <p:nvSpPr>
            <p:cNvPr id="85" name="Google Shape;85;p11"/>
            <p:cNvSpPr/>
            <p:nvPr/>
          </p:nvSpPr>
          <p:spPr>
            <a:xfrm>
              <a:off x="82600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1367281" y="0"/>
                  </a:moveTo>
                  <a:lnTo>
                    <a:pt x="144525" y="0"/>
                  </a:lnTo>
                  <a:lnTo>
                    <a:pt x="98844" y="7361"/>
                  </a:lnTo>
                  <a:lnTo>
                    <a:pt x="59170" y="27866"/>
                  </a:lnTo>
                  <a:lnTo>
                    <a:pt x="27885" y="59143"/>
                  </a:lnTo>
                  <a:lnTo>
                    <a:pt x="7368" y="98820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68" y="768287"/>
                  </a:lnTo>
                  <a:lnTo>
                    <a:pt x="27885" y="807957"/>
                  </a:lnTo>
                  <a:lnTo>
                    <a:pt x="59170" y="839252"/>
                  </a:lnTo>
                  <a:lnTo>
                    <a:pt x="98844" y="859781"/>
                  </a:lnTo>
                  <a:lnTo>
                    <a:pt x="144525" y="867156"/>
                  </a:lnTo>
                  <a:lnTo>
                    <a:pt x="1367281" y="867156"/>
                  </a:lnTo>
                  <a:lnTo>
                    <a:pt x="1412939" y="859781"/>
                  </a:lnTo>
                  <a:lnTo>
                    <a:pt x="1452609" y="839252"/>
                  </a:lnTo>
                  <a:lnTo>
                    <a:pt x="1483904" y="807957"/>
                  </a:lnTo>
                  <a:lnTo>
                    <a:pt x="1504433" y="768287"/>
                  </a:lnTo>
                  <a:lnTo>
                    <a:pt x="1511808" y="722630"/>
                  </a:lnTo>
                  <a:lnTo>
                    <a:pt x="1511808" y="144525"/>
                  </a:lnTo>
                  <a:lnTo>
                    <a:pt x="1504433" y="98820"/>
                  </a:lnTo>
                  <a:lnTo>
                    <a:pt x="1483904" y="59143"/>
                  </a:lnTo>
                  <a:lnTo>
                    <a:pt x="1452609" y="27866"/>
                  </a:lnTo>
                  <a:lnTo>
                    <a:pt x="1412939" y="7361"/>
                  </a:lnTo>
                  <a:lnTo>
                    <a:pt x="1367281" y="0"/>
                  </a:lnTo>
                  <a:close/>
                </a:path>
              </a:pathLst>
            </a:custGeom>
            <a:solidFill>
              <a:srgbClr val="FFE49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82600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0" y="144525"/>
                  </a:moveTo>
                  <a:lnTo>
                    <a:pt x="7368" y="98820"/>
                  </a:lnTo>
                  <a:lnTo>
                    <a:pt x="27885" y="59143"/>
                  </a:lnTo>
                  <a:lnTo>
                    <a:pt x="59170" y="27866"/>
                  </a:lnTo>
                  <a:lnTo>
                    <a:pt x="98844" y="7361"/>
                  </a:lnTo>
                  <a:lnTo>
                    <a:pt x="144525" y="0"/>
                  </a:lnTo>
                  <a:lnTo>
                    <a:pt x="1367281" y="0"/>
                  </a:lnTo>
                  <a:lnTo>
                    <a:pt x="1412939" y="7361"/>
                  </a:lnTo>
                  <a:lnTo>
                    <a:pt x="1452609" y="27866"/>
                  </a:lnTo>
                  <a:lnTo>
                    <a:pt x="1483904" y="59143"/>
                  </a:lnTo>
                  <a:lnTo>
                    <a:pt x="1504433" y="98820"/>
                  </a:lnTo>
                  <a:lnTo>
                    <a:pt x="1511808" y="144525"/>
                  </a:lnTo>
                  <a:lnTo>
                    <a:pt x="1511808" y="722630"/>
                  </a:lnTo>
                  <a:lnTo>
                    <a:pt x="1504433" y="768287"/>
                  </a:lnTo>
                  <a:lnTo>
                    <a:pt x="1483904" y="807957"/>
                  </a:lnTo>
                  <a:lnTo>
                    <a:pt x="1452609" y="839252"/>
                  </a:lnTo>
                  <a:lnTo>
                    <a:pt x="1412939" y="859781"/>
                  </a:lnTo>
                  <a:lnTo>
                    <a:pt x="1367281" y="867156"/>
                  </a:lnTo>
                  <a:lnTo>
                    <a:pt x="144525" y="867156"/>
                  </a:lnTo>
                  <a:lnTo>
                    <a:pt x="98844" y="859781"/>
                  </a:lnTo>
                  <a:lnTo>
                    <a:pt x="59170" y="839252"/>
                  </a:lnTo>
                  <a:lnTo>
                    <a:pt x="27885" y="807957"/>
                  </a:lnTo>
                  <a:lnTo>
                    <a:pt x="7368" y="768287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noFill/>
            <a:ln w="9525" cap="flat" cmpd="sng">
              <a:solidFill>
                <a:srgbClr val="FFE4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1"/>
          <p:cNvSpPr txBox="1"/>
          <p:nvPr/>
        </p:nvSpPr>
        <p:spPr>
          <a:xfrm>
            <a:off x="1000150" y="1112349"/>
            <a:ext cx="11664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81818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1"/>
          <p:cNvGrpSpPr/>
          <p:nvPr/>
        </p:nvGrpSpPr>
        <p:grpSpPr>
          <a:xfrm>
            <a:off x="2883607" y="954841"/>
            <a:ext cx="1511935" cy="867410"/>
            <a:chOff x="2898648" y="1411224"/>
            <a:chExt cx="1511935" cy="867410"/>
          </a:xfrm>
        </p:grpSpPr>
        <p:sp>
          <p:nvSpPr>
            <p:cNvPr id="89" name="Google Shape;89;p11"/>
            <p:cNvSpPr/>
            <p:nvPr/>
          </p:nvSpPr>
          <p:spPr>
            <a:xfrm>
              <a:off x="289864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1367281" y="0"/>
                  </a:moveTo>
                  <a:lnTo>
                    <a:pt x="144525" y="0"/>
                  </a:lnTo>
                  <a:lnTo>
                    <a:pt x="98820" y="7361"/>
                  </a:lnTo>
                  <a:lnTo>
                    <a:pt x="59143" y="27866"/>
                  </a:lnTo>
                  <a:lnTo>
                    <a:pt x="27866" y="59143"/>
                  </a:lnTo>
                  <a:lnTo>
                    <a:pt x="7361" y="98820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61" y="768287"/>
                  </a:lnTo>
                  <a:lnTo>
                    <a:pt x="27866" y="807957"/>
                  </a:lnTo>
                  <a:lnTo>
                    <a:pt x="59143" y="839252"/>
                  </a:lnTo>
                  <a:lnTo>
                    <a:pt x="98820" y="859781"/>
                  </a:lnTo>
                  <a:lnTo>
                    <a:pt x="144525" y="867156"/>
                  </a:lnTo>
                  <a:lnTo>
                    <a:pt x="1367281" y="867156"/>
                  </a:lnTo>
                  <a:lnTo>
                    <a:pt x="1412987" y="859781"/>
                  </a:lnTo>
                  <a:lnTo>
                    <a:pt x="1452664" y="839252"/>
                  </a:lnTo>
                  <a:lnTo>
                    <a:pt x="1483941" y="807957"/>
                  </a:lnTo>
                  <a:lnTo>
                    <a:pt x="1504446" y="768287"/>
                  </a:lnTo>
                  <a:lnTo>
                    <a:pt x="1511807" y="722630"/>
                  </a:lnTo>
                  <a:lnTo>
                    <a:pt x="1511807" y="144525"/>
                  </a:lnTo>
                  <a:lnTo>
                    <a:pt x="1504446" y="98820"/>
                  </a:lnTo>
                  <a:lnTo>
                    <a:pt x="1483941" y="59143"/>
                  </a:lnTo>
                  <a:lnTo>
                    <a:pt x="1452664" y="27866"/>
                  </a:lnTo>
                  <a:lnTo>
                    <a:pt x="1412987" y="7361"/>
                  </a:lnTo>
                  <a:lnTo>
                    <a:pt x="1367281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289864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0" y="144525"/>
                  </a:moveTo>
                  <a:lnTo>
                    <a:pt x="7361" y="98820"/>
                  </a:lnTo>
                  <a:lnTo>
                    <a:pt x="27866" y="59143"/>
                  </a:lnTo>
                  <a:lnTo>
                    <a:pt x="59143" y="27866"/>
                  </a:lnTo>
                  <a:lnTo>
                    <a:pt x="98820" y="7361"/>
                  </a:lnTo>
                  <a:lnTo>
                    <a:pt x="144525" y="0"/>
                  </a:lnTo>
                  <a:lnTo>
                    <a:pt x="1367281" y="0"/>
                  </a:lnTo>
                  <a:lnTo>
                    <a:pt x="1412987" y="7361"/>
                  </a:lnTo>
                  <a:lnTo>
                    <a:pt x="1452664" y="27866"/>
                  </a:lnTo>
                  <a:lnTo>
                    <a:pt x="1483941" y="59143"/>
                  </a:lnTo>
                  <a:lnTo>
                    <a:pt x="1504446" y="98820"/>
                  </a:lnTo>
                  <a:lnTo>
                    <a:pt x="1511807" y="144525"/>
                  </a:lnTo>
                  <a:lnTo>
                    <a:pt x="1511807" y="722630"/>
                  </a:lnTo>
                  <a:lnTo>
                    <a:pt x="1504446" y="768287"/>
                  </a:lnTo>
                  <a:lnTo>
                    <a:pt x="1483941" y="807957"/>
                  </a:lnTo>
                  <a:lnTo>
                    <a:pt x="1452664" y="839252"/>
                  </a:lnTo>
                  <a:lnTo>
                    <a:pt x="1412987" y="859781"/>
                  </a:lnTo>
                  <a:lnTo>
                    <a:pt x="1367281" y="867156"/>
                  </a:lnTo>
                  <a:lnTo>
                    <a:pt x="144525" y="867156"/>
                  </a:lnTo>
                  <a:lnTo>
                    <a:pt x="98820" y="859781"/>
                  </a:lnTo>
                  <a:lnTo>
                    <a:pt x="59143" y="839252"/>
                  </a:lnTo>
                  <a:lnTo>
                    <a:pt x="27866" y="807957"/>
                  </a:lnTo>
                  <a:lnTo>
                    <a:pt x="7361" y="768287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noFill/>
            <a:ln w="9525" cap="flat" cmpd="sng">
              <a:solidFill>
                <a:srgbClr val="FFD9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" name="Google Shape;91;p11"/>
          <p:cNvSpPr txBox="1"/>
          <p:nvPr/>
        </p:nvSpPr>
        <p:spPr>
          <a:xfrm>
            <a:off x="3167625" y="1112352"/>
            <a:ext cx="9780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5080" lvl="0" indent="1676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1"/>
          <p:cNvGrpSpPr/>
          <p:nvPr/>
        </p:nvGrpSpPr>
        <p:grpSpPr>
          <a:xfrm>
            <a:off x="4995000" y="954849"/>
            <a:ext cx="1511935" cy="867410"/>
            <a:chOff x="4971288" y="1411224"/>
            <a:chExt cx="1511935" cy="867410"/>
          </a:xfrm>
        </p:grpSpPr>
        <p:sp>
          <p:nvSpPr>
            <p:cNvPr id="93" name="Google Shape;93;p11"/>
            <p:cNvSpPr/>
            <p:nvPr/>
          </p:nvSpPr>
          <p:spPr>
            <a:xfrm>
              <a:off x="497128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1367282" y="0"/>
                  </a:moveTo>
                  <a:lnTo>
                    <a:pt x="144525" y="0"/>
                  </a:lnTo>
                  <a:lnTo>
                    <a:pt x="98820" y="7361"/>
                  </a:lnTo>
                  <a:lnTo>
                    <a:pt x="59143" y="27866"/>
                  </a:lnTo>
                  <a:lnTo>
                    <a:pt x="27866" y="59143"/>
                  </a:lnTo>
                  <a:lnTo>
                    <a:pt x="7361" y="98820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61" y="768287"/>
                  </a:lnTo>
                  <a:lnTo>
                    <a:pt x="27866" y="807957"/>
                  </a:lnTo>
                  <a:lnTo>
                    <a:pt x="59143" y="839252"/>
                  </a:lnTo>
                  <a:lnTo>
                    <a:pt x="98820" y="859781"/>
                  </a:lnTo>
                  <a:lnTo>
                    <a:pt x="144525" y="867156"/>
                  </a:lnTo>
                  <a:lnTo>
                    <a:pt x="1367282" y="867156"/>
                  </a:lnTo>
                  <a:lnTo>
                    <a:pt x="1412939" y="859781"/>
                  </a:lnTo>
                  <a:lnTo>
                    <a:pt x="1452609" y="839252"/>
                  </a:lnTo>
                  <a:lnTo>
                    <a:pt x="1483904" y="807957"/>
                  </a:lnTo>
                  <a:lnTo>
                    <a:pt x="1504433" y="768287"/>
                  </a:lnTo>
                  <a:lnTo>
                    <a:pt x="1511808" y="722630"/>
                  </a:lnTo>
                  <a:lnTo>
                    <a:pt x="1511808" y="144525"/>
                  </a:lnTo>
                  <a:lnTo>
                    <a:pt x="1504433" y="98820"/>
                  </a:lnTo>
                  <a:lnTo>
                    <a:pt x="1483904" y="59143"/>
                  </a:lnTo>
                  <a:lnTo>
                    <a:pt x="1452609" y="27866"/>
                  </a:lnTo>
                  <a:lnTo>
                    <a:pt x="1412939" y="7361"/>
                  </a:lnTo>
                  <a:lnTo>
                    <a:pt x="1367282" y="0"/>
                  </a:lnTo>
                  <a:close/>
                </a:path>
              </a:pathLst>
            </a:custGeom>
            <a:solidFill>
              <a:srgbClr val="F0C231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4971288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5" h="867410" extrusionOk="0">
                  <a:moveTo>
                    <a:pt x="0" y="144525"/>
                  </a:moveTo>
                  <a:lnTo>
                    <a:pt x="7361" y="98820"/>
                  </a:lnTo>
                  <a:lnTo>
                    <a:pt x="27866" y="59143"/>
                  </a:lnTo>
                  <a:lnTo>
                    <a:pt x="59143" y="27866"/>
                  </a:lnTo>
                  <a:lnTo>
                    <a:pt x="98820" y="7361"/>
                  </a:lnTo>
                  <a:lnTo>
                    <a:pt x="144525" y="0"/>
                  </a:lnTo>
                  <a:lnTo>
                    <a:pt x="1367282" y="0"/>
                  </a:lnTo>
                  <a:lnTo>
                    <a:pt x="1412939" y="7361"/>
                  </a:lnTo>
                  <a:lnTo>
                    <a:pt x="1452609" y="27866"/>
                  </a:lnTo>
                  <a:lnTo>
                    <a:pt x="1483904" y="59143"/>
                  </a:lnTo>
                  <a:lnTo>
                    <a:pt x="1504433" y="98820"/>
                  </a:lnTo>
                  <a:lnTo>
                    <a:pt x="1511808" y="144525"/>
                  </a:lnTo>
                  <a:lnTo>
                    <a:pt x="1511808" y="722630"/>
                  </a:lnTo>
                  <a:lnTo>
                    <a:pt x="1504433" y="768287"/>
                  </a:lnTo>
                  <a:lnTo>
                    <a:pt x="1483904" y="807957"/>
                  </a:lnTo>
                  <a:lnTo>
                    <a:pt x="1452609" y="839252"/>
                  </a:lnTo>
                  <a:lnTo>
                    <a:pt x="1412939" y="859781"/>
                  </a:lnTo>
                  <a:lnTo>
                    <a:pt x="1367282" y="867156"/>
                  </a:lnTo>
                  <a:lnTo>
                    <a:pt x="144525" y="867156"/>
                  </a:lnTo>
                  <a:lnTo>
                    <a:pt x="98820" y="859781"/>
                  </a:lnTo>
                  <a:lnTo>
                    <a:pt x="59143" y="839252"/>
                  </a:lnTo>
                  <a:lnTo>
                    <a:pt x="27866" y="807957"/>
                  </a:lnTo>
                  <a:lnTo>
                    <a:pt x="7361" y="768287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noFill/>
            <a:ln w="9525" cap="flat" cmpd="sng">
              <a:solidFill>
                <a:srgbClr val="F0C23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1"/>
          <p:cNvSpPr txBox="1"/>
          <p:nvPr/>
        </p:nvSpPr>
        <p:spPr>
          <a:xfrm>
            <a:off x="5376575" y="1220046"/>
            <a:ext cx="7488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Modeling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1"/>
          <p:cNvGrpSpPr/>
          <p:nvPr/>
        </p:nvGrpSpPr>
        <p:grpSpPr>
          <a:xfrm>
            <a:off x="7106411" y="954849"/>
            <a:ext cx="1511935" cy="867410"/>
            <a:chOff x="7106411" y="1411224"/>
            <a:chExt cx="1511935" cy="867410"/>
          </a:xfrm>
        </p:grpSpPr>
        <p:sp>
          <p:nvSpPr>
            <p:cNvPr id="97" name="Google Shape;97;p11"/>
            <p:cNvSpPr/>
            <p:nvPr/>
          </p:nvSpPr>
          <p:spPr>
            <a:xfrm>
              <a:off x="7106411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4" h="867410" extrusionOk="0">
                  <a:moveTo>
                    <a:pt x="1367282" y="0"/>
                  </a:moveTo>
                  <a:lnTo>
                    <a:pt x="144526" y="0"/>
                  </a:lnTo>
                  <a:lnTo>
                    <a:pt x="98820" y="7361"/>
                  </a:lnTo>
                  <a:lnTo>
                    <a:pt x="59143" y="27866"/>
                  </a:lnTo>
                  <a:lnTo>
                    <a:pt x="27866" y="59143"/>
                  </a:lnTo>
                  <a:lnTo>
                    <a:pt x="7361" y="98820"/>
                  </a:lnTo>
                  <a:lnTo>
                    <a:pt x="0" y="144525"/>
                  </a:lnTo>
                  <a:lnTo>
                    <a:pt x="0" y="722630"/>
                  </a:lnTo>
                  <a:lnTo>
                    <a:pt x="7361" y="768287"/>
                  </a:lnTo>
                  <a:lnTo>
                    <a:pt x="27866" y="807957"/>
                  </a:lnTo>
                  <a:lnTo>
                    <a:pt x="59143" y="839252"/>
                  </a:lnTo>
                  <a:lnTo>
                    <a:pt x="98820" y="859781"/>
                  </a:lnTo>
                  <a:lnTo>
                    <a:pt x="144526" y="867156"/>
                  </a:lnTo>
                  <a:lnTo>
                    <a:pt x="1367282" y="867156"/>
                  </a:lnTo>
                  <a:lnTo>
                    <a:pt x="1412939" y="859781"/>
                  </a:lnTo>
                  <a:lnTo>
                    <a:pt x="1452609" y="839252"/>
                  </a:lnTo>
                  <a:lnTo>
                    <a:pt x="1483904" y="807957"/>
                  </a:lnTo>
                  <a:lnTo>
                    <a:pt x="1504433" y="768287"/>
                  </a:lnTo>
                  <a:lnTo>
                    <a:pt x="1511808" y="722630"/>
                  </a:lnTo>
                  <a:lnTo>
                    <a:pt x="1511808" y="144525"/>
                  </a:lnTo>
                  <a:lnTo>
                    <a:pt x="1504433" y="98820"/>
                  </a:lnTo>
                  <a:lnTo>
                    <a:pt x="1483904" y="59143"/>
                  </a:lnTo>
                  <a:lnTo>
                    <a:pt x="1452609" y="27866"/>
                  </a:lnTo>
                  <a:lnTo>
                    <a:pt x="1412939" y="7361"/>
                  </a:lnTo>
                  <a:lnTo>
                    <a:pt x="1367282" y="0"/>
                  </a:lnTo>
                  <a:close/>
                </a:path>
              </a:pathLst>
            </a:custGeom>
            <a:solidFill>
              <a:srgbClr val="BE9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7106411" y="1411224"/>
              <a:ext cx="1511935" cy="867410"/>
            </a:xfrm>
            <a:custGeom>
              <a:avLst/>
              <a:gdLst/>
              <a:ahLst/>
              <a:cxnLst/>
              <a:rect l="l" t="t" r="r" b="b"/>
              <a:pathLst>
                <a:path w="1511934" h="867410" extrusionOk="0">
                  <a:moveTo>
                    <a:pt x="0" y="144525"/>
                  </a:moveTo>
                  <a:lnTo>
                    <a:pt x="7361" y="98820"/>
                  </a:lnTo>
                  <a:lnTo>
                    <a:pt x="27866" y="59143"/>
                  </a:lnTo>
                  <a:lnTo>
                    <a:pt x="59143" y="27866"/>
                  </a:lnTo>
                  <a:lnTo>
                    <a:pt x="98820" y="7361"/>
                  </a:lnTo>
                  <a:lnTo>
                    <a:pt x="144526" y="0"/>
                  </a:lnTo>
                  <a:lnTo>
                    <a:pt x="1367282" y="0"/>
                  </a:lnTo>
                  <a:lnTo>
                    <a:pt x="1412939" y="7361"/>
                  </a:lnTo>
                  <a:lnTo>
                    <a:pt x="1452609" y="27866"/>
                  </a:lnTo>
                  <a:lnTo>
                    <a:pt x="1483904" y="59143"/>
                  </a:lnTo>
                  <a:lnTo>
                    <a:pt x="1504433" y="98820"/>
                  </a:lnTo>
                  <a:lnTo>
                    <a:pt x="1511808" y="144525"/>
                  </a:lnTo>
                  <a:lnTo>
                    <a:pt x="1511808" y="722630"/>
                  </a:lnTo>
                  <a:lnTo>
                    <a:pt x="1504433" y="768287"/>
                  </a:lnTo>
                  <a:lnTo>
                    <a:pt x="1483904" y="807957"/>
                  </a:lnTo>
                  <a:lnTo>
                    <a:pt x="1452609" y="839252"/>
                  </a:lnTo>
                  <a:lnTo>
                    <a:pt x="1412939" y="859781"/>
                  </a:lnTo>
                  <a:lnTo>
                    <a:pt x="1367282" y="867156"/>
                  </a:lnTo>
                  <a:lnTo>
                    <a:pt x="144526" y="867156"/>
                  </a:lnTo>
                  <a:lnTo>
                    <a:pt x="98820" y="859781"/>
                  </a:lnTo>
                  <a:lnTo>
                    <a:pt x="59143" y="839252"/>
                  </a:lnTo>
                  <a:lnTo>
                    <a:pt x="27866" y="807957"/>
                  </a:lnTo>
                  <a:lnTo>
                    <a:pt x="7361" y="768287"/>
                  </a:lnTo>
                  <a:lnTo>
                    <a:pt x="0" y="722630"/>
                  </a:lnTo>
                  <a:lnTo>
                    <a:pt x="0" y="144525"/>
                  </a:lnTo>
                  <a:close/>
                </a:path>
              </a:pathLst>
            </a:custGeom>
            <a:noFill/>
            <a:ln w="9525" cap="flat" cmpd="sng">
              <a:solidFill>
                <a:srgbClr val="BE9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11"/>
          <p:cNvSpPr txBox="1"/>
          <p:nvPr/>
        </p:nvSpPr>
        <p:spPr>
          <a:xfrm>
            <a:off x="7434413" y="1214788"/>
            <a:ext cx="855900" cy="2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Evaluation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" name="Google Shape;100;p11"/>
          <p:cNvGrpSpPr/>
          <p:nvPr/>
        </p:nvGrpSpPr>
        <p:grpSpPr>
          <a:xfrm>
            <a:off x="2357627" y="1290129"/>
            <a:ext cx="4699001" cy="196850"/>
            <a:chOff x="2357627" y="1746504"/>
            <a:chExt cx="4699001" cy="196850"/>
          </a:xfrm>
        </p:grpSpPr>
        <p:sp>
          <p:nvSpPr>
            <p:cNvPr id="101" name="Google Shape;101;p11"/>
            <p:cNvSpPr/>
            <p:nvPr/>
          </p:nvSpPr>
          <p:spPr>
            <a:xfrm>
              <a:off x="2357627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39" h="196850" extrusionOk="0">
                  <a:moveTo>
                    <a:pt x="0" y="0"/>
                  </a:moveTo>
                  <a:lnTo>
                    <a:pt x="0" y="49149"/>
                  </a:lnTo>
                  <a:lnTo>
                    <a:pt x="0" y="196596"/>
                  </a:lnTo>
                  <a:lnTo>
                    <a:pt x="522732" y="98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2357627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39" h="196850" extrusionOk="0">
                  <a:moveTo>
                    <a:pt x="0" y="49149"/>
                  </a:moveTo>
                  <a:lnTo>
                    <a:pt x="0" y="0"/>
                  </a:lnTo>
                  <a:lnTo>
                    <a:pt x="522732" y="98298"/>
                  </a:lnTo>
                  <a:lnTo>
                    <a:pt x="0" y="196596"/>
                  </a:lnTo>
                  <a:lnTo>
                    <a:pt x="0" y="147447"/>
                  </a:lnTo>
                  <a:lnTo>
                    <a:pt x="0" y="49149"/>
                  </a:lnTo>
                  <a:close/>
                </a:path>
              </a:pathLst>
            </a:custGeom>
            <a:noFill/>
            <a:ln w="9525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4460748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39" h="196850" extrusionOk="0">
                  <a:moveTo>
                    <a:pt x="0" y="0"/>
                  </a:moveTo>
                  <a:lnTo>
                    <a:pt x="0" y="49149"/>
                  </a:lnTo>
                  <a:lnTo>
                    <a:pt x="0" y="196596"/>
                  </a:lnTo>
                  <a:lnTo>
                    <a:pt x="522731" y="98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4460748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39" h="196850" extrusionOk="0">
                  <a:moveTo>
                    <a:pt x="0" y="49149"/>
                  </a:moveTo>
                  <a:lnTo>
                    <a:pt x="0" y="0"/>
                  </a:lnTo>
                  <a:lnTo>
                    <a:pt x="522731" y="98298"/>
                  </a:lnTo>
                  <a:lnTo>
                    <a:pt x="0" y="196596"/>
                  </a:lnTo>
                  <a:lnTo>
                    <a:pt x="0" y="147447"/>
                  </a:lnTo>
                  <a:lnTo>
                    <a:pt x="0" y="49149"/>
                  </a:lnTo>
                  <a:close/>
                </a:path>
              </a:pathLst>
            </a:custGeom>
            <a:noFill/>
            <a:ln w="9525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6533388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40" h="196850" extrusionOk="0">
                  <a:moveTo>
                    <a:pt x="0" y="0"/>
                  </a:moveTo>
                  <a:lnTo>
                    <a:pt x="0" y="49149"/>
                  </a:lnTo>
                  <a:lnTo>
                    <a:pt x="0" y="196596"/>
                  </a:lnTo>
                  <a:lnTo>
                    <a:pt x="522731" y="98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6533388" y="1746504"/>
              <a:ext cx="523240" cy="196850"/>
            </a:xfrm>
            <a:custGeom>
              <a:avLst/>
              <a:gdLst/>
              <a:ahLst/>
              <a:cxnLst/>
              <a:rect l="l" t="t" r="r" b="b"/>
              <a:pathLst>
                <a:path w="523240" h="196850" extrusionOk="0">
                  <a:moveTo>
                    <a:pt x="0" y="49149"/>
                  </a:moveTo>
                  <a:lnTo>
                    <a:pt x="0" y="0"/>
                  </a:lnTo>
                  <a:lnTo>
                    <a:pt x="522731" y="98298"/>
                  </a:lnTo>
                  <a:lnTo>
                    <a:pt x="0" y="196596"/>
                  </a:lnTo>
                  <a:lnTo>
                    <a:pt x="0" y="147447"/>
                  </a:lnTo>
                  <a:lnTo>
                    <a:pt x="0" y="49149"/>
                  </a:lnTo>
                  <a:close/>
                </a:path>
              </a:pathLst>
            </a:custGeom>
            <a:noFill/>
            <a:ln w="9525" cap="flat" cmpd="sng">
              <a:solidFill>
                <a:srgbClr val="99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11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2022 Arizona Board of Regents</a:t>
            </a:r>
            <a:endParaRPr/>
          </a:p>
        </p:txBody>
      </p:sp>
      <p:sp>
        <p:nvSpPr>
          <p:cNvPr id="108" name="Google Shape;108;p11"/>
          <p:cNvSpPr txBox="1"/>
          <p:nvPr/>
        </p:nvSpPr>
        <p:spPr>
          <a:xfrm>
            <a:off x="795875" y="4453700"/>
            <a:ext cx="7822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dk1"/>
                </a:solidFill>
              </a:rPr>
              <a:t>Data readiness</a:t>
            </a:r>
            <a:r>
              <a:rPr lang="en-US" sz="1500">
                <a:solidFill>
                  <a:schemeClr val="dk1"/>
                </a:solidFill>
              </a:rPr>
              <a:t>: model-ready after light normalization; no extra data collection needed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>
            <a:spLocks noGrp="1"/>
          </p:cNvSpPr>
          <p:nvPr>
            <p:ph type="title"/>
          </p:nvPr>
        </p:nvSpPr>
        <p:spPr>
          <a:xfrm>
            <a:off x="1337400" y="398375"/>
            <a:ext cx="6469200" cy="369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000000"/>
                </a:solidFill>
              </a:rPr>
              <a:t>5-fold CV, OOF Probabilities &amp; Threshold tuning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1913" y="1474625"/>
            <a:ext cx="6920175" cy="21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1305750" y="398375"/>
            <a:ext cx="6532500" cy="369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chemeClr val="dk1"/>
                </a:solidFill>
              </a:rPr>
              <a:t>5-fold CV, OOF Probabilities &amp; Threshold tuning</a:t>
            </a:r>
            <a:endParaRPr sz="2400" b="0">
              <a:solidFill>
                <a:srgbClr val="000000"/>
              </a:solidFill>
            </a:endParaRPr>
          </a:p>
        </p:txBody>
      </p:sp>
      <p:pic>
        <p:nvPicPr>
          <p:cNvPr id="121" name="Google Shape;12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4888" y="1022654"/>
            <a:ext cx="5894227" cy="354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>
            <a:spLocks noGrp="1"/>
          </p:cNvSpPr>
          <p:nvPr>
            <p:ph type="title"/>
          </p:nvPr>
        </p:nvSpPr>
        <p:spPr>
          <a:xfrm>
            <a:off x="2368025" y="398375"/>
            <a:ext cx="4481400" cy="369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000000"/>
                </a:solidFill>
              </a:rPr>
              <a:t>Ensemble &amp; Hold-Out Evaluation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7625" y="1237437"/>
            <a:ext cx="5982175" cy="266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2977050" y="398375"/>
            <a:ext cx="3189900" cy="369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000000"/>
                </a:solidFill>
              </a:rPr>
              <a:t>Confusion Matrix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3000" y="1087525"/>
            <a:ext cx="4778007" cy="37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816125" y="2448600"/>
            <a:ext cx="2070900" cy="246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Potential Issues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627700" y="2123850"/>
            <a:ext cx="37740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Lack of Hyperparameter Tuning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Simple Ensemble Method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Semantic Gaps</a:t>
            </a:r>
            <a:endParaRPr/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847875" y="2448600"/>
            <a:ext cx="2070900" cy="246300"/>
          </a:xfrm>
          <a:prstGeom prst="rect">
            <a:avLst/>
          </a:prstGeom>
          <a:solidFill>
            <a:srgbClr val="FFC527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Future Plans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4106525" y="2123850"/>
            <a:ext cx="4600800" cy="11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Push F1 ≥ 0.78–0.784 and accuracy ≥ 0.82 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Full Pipeline Hyperparameter Tuning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Implement Advanced Ensembling (Stacking)</a:t>
            </a:r>
            <a:endParaRPr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Fine-Tune a Transformer Model (LSTM/BERT)</a:t>
            </a:r>
            <a:endParaRPr/>
          </a:p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9279" y="4614526"/>
            <a:ext cx="629773" cy="272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34" y="4419689"/>
            <a:ext cx="3465478" cy="599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4477"/>
            <a:ext cx="9144000" cy="423595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>
            <a:spLocks noGrp="1"/>
          </p:cNvSpPr>
          <p:nvPr>
            <p:ph type="ftr" idx="11"/>
          </p:nvPr>
        </p:nvSpPr>
        <p:spPr>
          <a:xfrm>
            <a:off x="7797165" y="5019130"/>
            <a:ext cx="1017904" cy="81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2022 Arizona Board of Regents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2727450" y="1655300"/>
            <a:ext cx="3689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Thank You</a:t>
            </a:r>
            <a:endParaRPr sz="5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Macintosh PowerPoint</Application>
  <PresentationFormat>On-screen Show (16:9)</PresentationFormat>
  <Paragraphs>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Natural Language Processing with Disaster Tweets</vt:lpstr>
      <vt:lpstr>PowerPoint Presentation</vt:lpstr>
      <vt:lpstr>PowerPoint Presentation</vt:lpstr>
      <vt:lpstr>Data Preprocessing</vt:lpstr>
      <vt:lpstr>Implemented Data Mining Pipeline/System</vt:lpstr>
      <vt:lpstr>5-fold CV, OOF Probabilities &amp; Threshold tuning</vt:lpstr>
      <vt:lpstr>5-fold CV, OOF Probabilities &amp; Threshold tuning</vt:lpstr>
      <vt:lpstr>Ensemble &amp; Hold-Out Evaluation</vt:lpstr>
      <vt:lpstr>Confusion Matrix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Taljinder Singh (Student)</cp:lastModifiedBy>
  <cp:revision>2</cp:revision>
  <dcterms:modified xsi:type="dcterms:W3CDTF">2025-12-19T18:54:30Z</dcterms:modified>
</cp:coreProperties>
</file>